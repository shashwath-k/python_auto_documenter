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56" r:id="rId2"/>
    <p:sldId id="387" r:id="rId3"/>
    <p:sldId id="463" r:id="rId4"/>
    <p:sldId id="470" r:id="rId5"/>
    <p:sldId id="465" r:id="rId6"/>
    <p:sldId id="466" r:id="rId7"/>
    <p:sldId id="467" r:id="rId8"/>
    <p:sldId id="462" r:id="rId9"/>
    <p:sldId id="455" r:id="rId10"/>
    <p:sldId id="468" r:id="rId11"/>
    <p:sldId id="456" r:id="rId12"/>
    <p:sldId id="457" r:id="rId13"/>
    <p:sldId id="273" r:id="rId14"/>
  </p:sldIdLst>
  <p:sldSz cx="12192000" cy="6858000"/>
  <p:notesSz cx="6858000" cy="9144000"/>
  <p:embeddedFontLst>
    <p:embeddedFont>
      <p:font typeface="Roboto Slab" pitchFamily="2" charset="0"/>
      <p:regular r:id="rId16"/>
      <p:bold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95959"/>
    <a:srgbClr val="F5F5F5"/>
    <a:srgbClr val="000000"/>
    <a:srgbClr val="990099"/>
    <a:srgbClr val="CC3399"/>
    <a:srgbClr val="5324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6318" autoAdjust="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41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A04D3E-AB25-4865-88B1-E5CEDFA4F726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8B107A-A654-4768-8807-756F0176A7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93411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285437" y="265677"/>
            <a:ext cx="11621126" cy="6326646"/>
            <a:chOff x="254476" y="265679"/>
            <a:chExt cx="11621126" cy="6326646"/>
          </a:xfrm>
        </p:grpSpPr>
        <p:sp>
          <p:nvSpPr>
            <p:cNvPr id="8" name="Flowchart: Manual Input 5"/>
            <p:cNvSpPr/>
            <p:nvPr userDrawn="1"/>
          </p:nvSpPr>
          <p:spPr>
            <a:xfrm rot="16200000" flipV="1">
              <a:off x="799317" y="-279162"/>
              <a:ext cx="6326646" cy="7416327"/>
            </a:xfrm>
            <a:custGeom>
              <a:avLst/>
              <a:gdLst>
                <a:gd name="connsiteX0" fmla="*/ 0 w 10000"/>
                <a:gd name="connsiteY0" fmla="*/ 2000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2000 h 10000"/>
                <a:gd name="connsiteX0" fmla="*/ 0 w 10000"/>
                <a:gd name="connsiteY0" fmla="*/ 3494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3494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0" y="3494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3494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Flowchart: Manual Input 5"/>
            <p:cNvSpPr/>
            <p:nvPr userDrawn="1"/>
          </p:nvSpPr>
          <p:spPr>
            <a:xfrm rot="16200000" flipH="1">
              <a:off x="5594106" y="302528"/>
              <a:ext cx="5550769" cy="7012223"/>
            </a:xfrm>
            <a:custGeom>
              <a:avLst/>
              <a:gdLst>
                <a:gd name="connsiteX0" fmla="*/ 0 w 10000"/>
                <a:gd name="connsiteY0" fmla="*/ 2000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2000 h 10000"/>
                <a:gd name="connsiteX0" fmla="*/ 0 w 10000"/>
                <a:gd name="connsiteY0" fmla="*/ 3494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3494 h 10000"/>
                <a:gd name="connsiteX0" fmla="*/ 15 w 10015"/>
                <a:gd name="connsiteY0" fmla="*/ 3494 h 10469"/>
                <a:gd name="connsiteX1" fmla="*/ 10015 w 10015"/>
                <a:gd name="connsiteY1" fmla="*/ 0 h 10469"/>
                <a:gd name="connsiteX2" fmla="*/ 10015 w 10015"/>
                <a:gd name="connsiteY2" fmla="*/ 10000 h 10469"/>
                <a:gd name="connsiteX3" fmla="*/ 0 w 10015"/>
                <a:gd name="connsiteY3" fmla="*/ 10469 h 10469"/>
                <a:gd name="connsiteX4" fmla="*/ 15 w 10015"/>
                <a:gd name="connsiteY4" fmla="*/ 3494 h 10469"/>
                <a:gd name="connsiteX0" fmla="*/ 15 w 10015"/>
                <a:gd name="connsiteY0" fmla="*/ 3494 h 10494"/>
                <a:gd name="connsiteX1" fmla="*/ 10015 w 10015"/>
                <a:gd name="connsiteY1" fmla="*/ 0 h 10494"/>
                <a:gd name="connsiteX2" fmla="*/ 9984 w 10015"/>
                <a:gd name="connsiteY2" fmla="*/ 10494 h 10494"/>
                <a:gd name="connsiteX3" fmla="*/ 0 w 10015"/>
                <a:gd name="connsiteY3" fmla="*/ 10469 h 10494"/>
                <a:gd name="connsiteX4" fmla="*/ 15 w 10015"/>
                <a:gd name="connsiteY4" fmla="*/ 3494 h 1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5" h="10494">
                  <a:moveTo>
                    <a:pt x="15" y="3494"/>
                  </a:moveTo>
                  <a:lnTo>
                    <a:pt x="10015" y="0"/>
                  </a:lnTo>
                  <a:cubicBezTo>
                    <a:pt x="10005" y="3498"/>
                    <a:pt x="9994" y="6996"/>
                    <a:pt x="9984" y="10494"/>
                  </a:cubicBezTo>
                  <a:lnTo>
                    <a:pt x="0" y="10469"/>
                  </a:lnTo>
                  <a:lnTo>
                    <a:pt x="15" y="349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1984375"/>
            <a:ext cx="59055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4564063"/>
            <a:ext cx="5905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83" b="37125"/>
          <a:stretch/>
        </p:blipFill>
        <p:spPr>
          <a:xfrm>
            <a:off x="254475" y="3208830"/>
            <a:ext cx="6915786" cy="337519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639" y="379813"/>
            <a:ext cx="2760542" cy="111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703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4476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639" y="379813"/>
            <a:ext cx="2444161" cy="983068"/>
          </a:xfrm>
          <a:prstGeom prst="rect">
            <a:avLst/>
          </a:prstGeom>
        </p:spPr>
      </p:pic>
      <p:cxnSp>
        <p:nvCxnSpPr>
          <p:cNvPr id="11" name="Straight Connector 10"/>
          <p:cNvCxnSpPr/>
          <p:nvPr userDrawn="1"/>
        </p:nvCxnSpPr>
        <p:spPr>
          <a:xfrm>
            <a:off x="3090333" y="1049867"/>
            <a:ext cx="867833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3386667" y="379812"/>
            <a:ext cx="8382000" cy="670055"/>
          </a:xfrm>
        </p:spPr>
        <p:txBody>
          <a:bodyPr>
            <a:normAutofit/>
          </a:bodyPr>
          <a:lstStyle>
            <a:lvl1pPr algn="r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254475" y="6502400"/>
            <a:ext cx="11683050" cy="7043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itle 2"/>
          <p:cNvSpPr txBox="1">
            <a:spLocks/>
          </p:cNvSpPr>
          <p:nvPr userDrawn="1"/>
        </p:nvSpPr>
        <p:spPr>
          <a:xfrm>
            <a:off x="7956645" y="6476902"/>
            <a:ext cx="3980880" cy="43569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IN" sz="1200" b="0" dirty="0">
                <a:solidFill>
                  <a:srgbClr val="595959"/>
                </a:solidFill>
              </a:rPr>
              <a:t>REVA Academy for Corporate Excellence (RACE)</a:t>
            </a:r>
          </a:p>
        </p:txBody>
      </p:sp>
    </p:spTree>
    <p:extLst>
      <p:ext uri="{BB962C8B-B14F-4D97-AF65-F5344CB8AC3E}">
        <p14:creationId xmlns:p14="http://schemas.microsoft.com/office/powerpoint/2010/main" val="1783210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4476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sp>
        <p:nvSpPr>
          <p:cNvPr id="2" name="Rectangle 1"/>
          <p:cNvSpPr/>
          <p:nvPr userDrawn="1"/>
        </p:nvSpPr>
        <p:spPr>
          <a:xfrm>
            <a:off x="254475" y="262783"/>
            <a:ext cx="3597858" cy="633243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noFill/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02627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4476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sp>
        <p:nvSpPr>
          <p:cNvPr id="2" name="Rectangle 1"/>
          <p:cNvSpPr/>
          <p:nvPr userDrawn="1"/>
        </p:nvSpPr>
        <p:spPr>
          <a:xfrm>
            <a:off x="254475" y="262783"/>
            <a:ext cx="2686688" cy="633243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noFill/>
              </a:ln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03"/>
          <a:stretch/>
        </p:blipFill>
        <p:spPr>
          <a:xfrm>
            <a:off x="245097" y="1534163"/>
            <a:ext cx="2393627" cy="4768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244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17672-D273-40A8-9069-31B0837D5743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49BB6-5787-495D-AC20-623BD90004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47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17672-D273-40A8-9069-31B0837D5743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49BB6-5787-495D-AC20-623BD90004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455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17672-D273-40A8-9069-31B0837D5743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49BB6-5787-495D-AC20-623BD90004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294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17672-D273-40A8-9069-31B0837D5743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49BB6-5787-495D-AC20-623BD90004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221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17672-D273-40A8-9069-31B0837D5743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49BB6-5787-495D-AC20-623BD90004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463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17672-D273-40A8-9069-31B0837D5743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49BB6-5787-495D-AC20-623BD90004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232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17672-D273-40A8-9069-31B0837D5743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49BB6-5787-495D-AC20-623BD90004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5522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17672-D273-40A8-9069-31B0837D5743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49BB6-5787-495D-AC20-623BD90004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5575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17672-D273-40A8-9069-31B0837D5743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49BB6-5787-495D-AC20-623BD90004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7211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FBAFD22-97B6-4BF3-9496-41E458151A6B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191579" y="92974"/>
            <a:ext cx="2926334" cy="780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4234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21C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sp>
        <p:nvSpPr>
          <p:cNvPr id="6" name="Rectangle 5"/>
          <p:cNvSpPr/>
          <p:nvPr userDrawn="1"/>
        </p:nvSpPr>
        <p:spPr>
          <a:xfrm>
            <a:off x="123825" y="138112"/>
            <a:ext cx="11944351" cy="65817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403412" y="1049867"/>
            <a:ext cx="1136525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3386667" y="379812"/>
            <a:ext cx="8382000" cy="670055"/>
          </a:xfrm>
        </p:spPr>
        <p:txBody>
          <a:bodyPr>
            <a:normAutofit/>
          </a:bodyPr>
          <a:lstStyle>
            <a:lvl1pPr algn="r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17215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838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317672-D273-40A8-9069-31B0837D5743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1D3BC5-34EF-44B2-83AC-D5533E46F0A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0419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8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84" r:id="rId14"/>
    <p:sldLayoutId id="2147483685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8917" y="1625473"/>
            <a:ext cx="6673403" cy="1998307"/>
          </a:xfrm>
        </p:spPr>
        <p:txBody>
          <a:bodyPr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800" b="1" dirty="0">
                <a:solidFill>
                  <a:schemeClr val="accent2"/>
                </a:solidFill>
                <a:cs typeface="Arial" panose="020B0604020202020204" pitchFamily="34" charset="0"/>
              </a:rPr>
              <a:t>Topic: </a:t>
            </a:r>
            <a:r>
              <a:rPr lang="en-GB" sz="2800" b="1" dirty="0">
                <a:solidFill>
                  <a:schemeClr val="accent2"/>
                </a:solidFill>
                <a:cs typeface="Arial" panose="020B0604020202020204" pitchFamily="34" charset="0"/>
              </a:rPr>
              <a:t>Semantic Aware File Converter with Automatic Documentation Generation using Local LLM</a:t>
            </a:r>
            <a:r>
              <a:rPr lang="en-US" sz="2800" b="1" dirty="0">
                <a:solidFill>
                  <a:schemeClr val="accent2"/>
                </a:solidFill>
                <a:cs typeface="Arial" panose="020B0604020202020204" pitchFamily="34" charset="0"/>
              </a:rPr>
              <a:t>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54994" y="3752894"/>
            <a:ext cx="5905500" cy="762076"/>
          </a:xfrm>
        </p:spPr>
        <p:txBody>
          <a:bodyPr>
            <a:noAutofit/>
          </a:bodyPr>
          <a:lstStyle/>
          <a:p>
            <a:pPr algn="r"/>
            <a:r>
              <a:rPr lang="en-US" sz="20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Shashwath K S</a:t>
            </a:r>
          </a:p>
          <a:p>
            <a:pPr algn="r"/>
            <a:r>
              <a:rPr lang="en-US" sz="20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MTech in AI FT-Batch 04 </a:t>
            </a:r>
          </a:p>
          <a:p>
            <a:pPr algn="r"/>
            <a:r>
              <a:rPr lang="en-US" sz="20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Project Presentation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5485425" y="6119446"/>
            <a:ext cx="6175069" cy="3526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ct val="100000"/>
              </a:lnSpc>
            </a:pPr>
            <a:r>
              <a:rPr lang="en-IN" sz="1600" dirty="0">
                <a:solidFill>
                  <a:schemeClr val="bg1"/>
                </a:solidFill>
                <a:ea typeface="Calibri" panose="020F0502020204030204" pitchFamily="34" charset="0"/>
                <a:cs typeface="Arial" panose="020B0604020202020204" pitchFamily="34" charset="0"/>
              </a:rPr>
              <a:t>www.race.reva.edu.in</a:t>
            </a:r>
          </a:p>
        </p:txBody>
      </p:sp>
      <p:sp>
        <p:nvSpPr>
          <p:cNvPr id="8" name="Title 2"/>
          <p:cNvSpPr txBox="1">
            <a:spLocks/>
          </p:cNvSpPr>
          <p:nvPr/>
        </p:nvSpPr>
        <p:spPr>
          <a:xfrm>
            <a:off x="6646333" y="271291"/>
            <a:ext cx="5267501" cy="579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IN" sz="1400" b="1" dirty="0">
                <a:solidFill>
                  <a:srgbClr val="595959"/>
                </a:solidFill>
              </a:rPr>
              <a:t>REVA Academy for Corporate Excellence (RACE)</a:t>
            </a:r>
          </a:p>
        </p:txBody>
      </p:sp>
      <p:sp>
        <p:nvSpPr>
          <p:cNvPr id="9" name="Title 2"/>
          <p:cNvSpPr txBox="1">
            <a:spLocks/>
          </p:cNvSpPr>
          <p:nvPr/>
        </p:nvSpPr>
        <p:spPr>
          <a:xfrm>
            <a:off x="458917" y="3426864"/>
            <a:ext cx="4127234" cy="579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400" dirty="0">
                <a:solidFill>
                  <a:srgbClr val="595959"/>
                </a:solidFill>
              </a:rPr>
              <a:t>Date: 23-03-2026</a:t>
            </a:r>
          </a:p>
        </p:txBody>
      </p:sp>
    </p:spTree>
    <p:extLst>
      <p:ext uri="{BB962C8B-B14F-4D97-AF65-F5344CB8AC3E}">
        <p14:creationId xmlns:p14="http://schemas.microsoft.com/office/powerpoint/2010/main" val="1697186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Agenda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7F06B10-F2B9-45AE-BAEE-3A25BDC40F60}"/>
              </a:ext>
            </a:extLst>
          </p:cNvPr>
          <p:cNvGrpSpPr/>
          <p:nvPr/>
        </p:nvGrpSpPr>
        <p:grpSpPr>
          <a:xfrm>
            <a:off x="694673" y="1531122"/>
            <a:ext cx="5465788" cy="646331"/>
            <a:chOff x="1848112" y="1575921"/>
            <a:chExt cx="5465788" cy="646331"/>
          </a:xfrm>
        </p:grpSpPr>
        <p:sp>
          <p:nvSpPr>
            <p:cNvPr id="11" name="TextBox 10"/>
            <p:cNvSpPr txBox="1"/>
            <p:nvPr/>
          </p:nvSpPr>
          <p:spPr>
            <a:xfrm>
              <a:off x="2806208" y="1702727"/>
              <a:ext cx="4507692" cy="400110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Introduction</a:t>
              </a:r>
              <a:endPara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848112" y="1575921"/>
              <a:ext cx="958096" cy="6463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3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01</a:t>
              </a:r>
              <a:endParaRPr lang="ko-KR" alt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8C572D2-FF82-4F09-A87C-3D3A60EF1C3D}"/>
              </a:ext>
            </a:extLst>
          </p:cNvPr>
          <p:cNvGrpSpPr/>
          <p:nvPr/>
        </p:nvGrpSpPr>
        <p:grpSpPr>
          <a:xfrm>
            <a:off x="694673" y="2666100"/>
            <a:ext cx="5465788" cy="646331"/>
            <a:chOff x="1848112" y="1575921"/>
            <a:chExt cx="5465788" cy="646331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FCF8A9D-7E22-4279-8535-9C4F0258D7B9}"/>
                </a:ext>
              </a:extLst>
            </p:cNvPr>
            <p:cNvSpPr txBox="1"/>
            <p:nvPr/>
          </p:nvSpPr>
          <p:spPr>
            <a:xfrm>
              <a:off x="2806208" y="1699031"/>
              <a:ext cx="4507692" cy="400110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Problem Statement</a:t>
              </a:r>
              <a:endPara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E6D74D0-F347-4E58-A9D8-7E9536FAAEC3}"/>
                </a:ext>
              </a:extLst>
            </p:cNvPr>
            <p:cNvSpPr txBox="1"/>
            <p:nvPr/>
          </p:nvSpPr>
          <p:spPr>
            <a:xfrm>
              <a:off x="1848112" y="1575921"/>
              <a:ext cx="958096" cy="6463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3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02</a:t>
              </a:r>
              <a:endParaRPr lang="ko-KR" alt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66517ED-D341-498B-BF06-476933A43F6B}"/>
              </a:ext>
            </a:extLst>
          </p:cNvPr>
          <p:cNvGrpSpPr/>
          <p:nvPr/>
        </p:nvGrpSpPr>
        <p:grpSpPr>
          <a:xfrm>
            <a:off x="694673" y="3801078"/>
            <a:ext cx="5465788" cy="646331"/>
            <a:chOff x="1848112" y="1575921"/>
            <a:chExt cx="5465788" cy="646331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90EC436-1B46-49D9-A7E4-ADECB5E929DF}"/>
                </a:ext>
              </a:extLst>
            </p:cNvPr>
            <p:cNvSpPr txBox="1"/>
            <p:nvPr/>
          </p:nvSpPr>
          <p:spPr>
            <a:xfrm>
              <a:off x="2806208" y="1699031"/>
              <a:ext cx="4507692" cy="400110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Objectives</a:t>
              </a:r>
              <a:endPara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F831A6C-272F-4BDD-8F88-4227AAB90FB2}"/>
                </a:ext>
              </a:extLst>
            </p:cNvPr>
            <p:cNvSpPr txBox="1"/>
            <p:nvPr/>
          </p:nvSpPr>
          <p:spPr>
            <a:xfrm>
              <a:off x="1848112" y="1575921"/>
              <a:ext cx="958096" cy="6463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3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03</a:t>
              </a:r>
              <a:endParaRPr lang="ko-KR" alt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DEE4032-D811-4C99-AE03-98362C887B64}"/>
              </a:ext>
            </a:extLst>
          </p:cNvPr>
          <p:cNvGrpSpPr/>
          <p:nvPr/>
        </p:nvGrpSpPr>
        <p:grpSpPr>
          <a:xfrm>
            <a:off x="694673" y="4936055"/>
            <a:ext cx="5465788" cy="646331"/>
            <a:chOff x="1848112" y="1575921"/>
            <a:chExt cx="5465788" cy="646331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DFCC804-6C1D-4C67-B274-1978635DA6F9}"/>
                </a:ext>
              </a:extLst>
            </p:cNvPr>
            <p:cNvSpPr txBox="1"/>
            <p:nvPr/>
          </p:nvSpPr>
          <p:spPr>
            <a:xfrm>
              <a:off x="2806208" y="1697449"/>
              <a:ext cx="4507692" cy="400110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System Design</a:t>
              </a:r>
              <a:endPara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B7AC64B-48B2-4F4F-A626-7901145018C6}"/>
                </a:ext>
              </a:extLst>
            </p:cNvPr>
            <p:cNvSpPr txBox="1"/>
            <p:nvPr/>
          </p:nvSpPr>
          <p:spPr>
            <a:xfrm>
              <a:off x="1848112" y="1575921"/>
              <a:ext cx="958096" cy="6463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3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04</a:t>
              </a:r>
              <a:endParaRPr lang="ko-KR" alt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7F06B10-F2B9-45AE-BAEE-3A25BDC40F60}"/>
              </a:ext>
            </a:extLst>
          </p:cNvPr>
          <p:cNvGrpSpPr/>
          <p:nvPr/>
        </p:nvGrpSpPr>
        <p:grpSpPr>
          <a:xfrm>
            <a:off x="6060189" y="1531122"/>
            <a:ext cx="5437138" cy="646331"/>
            <a:chOff x="1848112" y="1575921"/>
            <a:chExt cx="5437138" cy="646331"/>
          </a:xfrm>
        </p:grpSpPr>
        <p:sp>
          <p:nvSpPr>
            <p:cNvPr id="27" name="TextBox 26"/>
            <p:cNvSpPr txBox="1"/>
            <p:nvPr/>
          </p:nvSpPr>
          <p:spPr>
            <a:xfrm>
              <a:off x="2777558" y="1705386"/>
              <a:ext cx="4507692" cy="400110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IN" altLang="ko-KR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Technology Stack</a:t>
              </a:r>
              <a:endPara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848112" y="1575921"/>
              <a:ext cx="958096" cy="6463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3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05</a:t>
              </a:r>
              <a:endParaRPr lang="ko-KR" alt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8C572D2-FF82-4F09-A87C-3D3A60EF1C3D}"/>
              </a:ext>
            </a:extLst>
          </p:cNvPr>
          <p:cNvGrpSpPr/>
          <p:nvPr/>
        </p:nvGrpSpPr>
        <p:grpSpPr>
          <a:xfrm>
            <a:off x="6060189" y="2666100"/>
            <a:ext cx="5465788" cy="646331"/>
            <a:chOff x="1848112" y="1575921"/>
            <a:chExt cx="5465788" cy="646331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FCF8A9D-7E22-4279-8535-9C4F0258D7B9}"/>
                </a:ext>
              </a:extLst>
            </p:cNvPr>
            <p:cNvSpPr txBox="1"/>
            <p:nvPr/>
          </p:nvSpPr>
          <p:spPr>
            <a:xfrm>
              <a:off x="2806208" y="1697994"/>
              <a:ext cx="4507692" cy="400110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IN" altLang="ko-KR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Live Demo</a:t>
              </a:r>
              <a:endPara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3E6D74D0-F347-4E58-A9D8-7E9536FAAEC3}"/>
                </a:ext>
              </a:extLst>
            </p:cNvPr>
            <p:cNvSpPr txBox="1"/>
            <p:nvPr/>
          </p:nvSpPr>
          <p:spPr>
            <a:xfrm>
              <a:off x="1848112" y="1575921"/>
              <a:ext cx="958096" cy="6463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3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06</a:t>
              </a:r>
              <a:endParaRPr lang="ko-KR" alt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66517ED-D341-498B-BF06-476933A43F6B}"/>
              </a:ext>
            </a:extLst>
          </p:cNvPr>
          <p:cNvGrpSpPr/>
          <p:nvPr/>
        </p:nvGrpSpPr>
        <p:grpSpPr>
          <a:xfrm>
            <a:off x="6060189" y="3801078"/>
            <a:ext cx="5465788" cy="646331"/>
            <a:chOff x="1848112" y="1575921"/>
            <a:chExt cx="5465788" cy="646331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90EC436-1B46-49D9-A7E4-ADECB5E929DF}"/>
                </a:ext>
              </a:extLst>
            </p:cNvPr>
            <p:cNvSpPr txBox="1"/>
            <p:nvPr/>
          </p:nvSpPr>
          <p:spPr>
            <a:xfrm>
              <a:off x="2806208" y="1665008"/>
              <a:ext cx="4507692" cy="400110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Future Enhancements</a:t>
              </a:r>
              <a:endPara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F831A6C-272F-4BDD-8F88-4227AAB90FB2}"/>
                </a:ext>
              </a:extLst>
            </p:cNvPr>
            <p:cNvSpPr txBox="1"/>
            <p:nvPr/>
          </p:nvSpPr>
          <p:spPr>
            <a:xfrm>
              <a:off x="1848112" y="1575921"/>
              <a:ext cx="958096" cy="6463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3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07</a:t>
              </a:r>
              <a:endParaRPr lang="ko-KR" alt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DEE4032-D811-4C99-AE03-98362C887B64}"/>
              </a:ext>
            </a:extLst>
          </p:cNvPr>
          <p:cNvGrpSpPr/>
          <p:nvPr/>
        </p:nvGrpSpPr>
        <p:grpSpPr>
          <a:xfrm>
            <a:off x="6060189" y="4936055"/>
            <a:ext cx="5465788" cy="646331"/>
            <a:chOff x="1848112" y="1575921"/>
            <a:chExt cx="5465788" cy="646331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3DFCC804-6C1D-4C67-B274-1978635DA6F9}"/>
                </a:ext>
              </a:extLst>
            </p:cNvPr>
            <p:cNvSpPr txBox="1"/>
            <p:nvPr/>
          </p:nvSpPr>
          <p:spPr>
            <a:xfrm>
              <a:off x="2806208" y="1720555"/>
              <a:ext cx="4507692" cy="400110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Conclusion</a:t>
              </a:r>
              <a:endPara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7B7AC64B-48B2-4F4F-A626-7901145018C6}"/>
                </a:ext>
              </a:extLst>
            </p:cNvPr>
            <p:cNvSpPr txBox="1"/>
            <p:nvPr/>
          </p:nvSpPr>
          <p:spPr>
            <a:xfrm>
              <a:off x="1848112" y="1575921"/>
              <a:ext cx="958096" cy="6463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3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08</a:t>
              </a:r>
              <a:endParaRPr lang="ko-KR" alt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48360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8585" y="1697860"/>
            <a:ext cx="10344055" cy="40405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2000" dirty="0"/>
              <a:t>A unified framework for semantic file conversion and automatic code documentation using Python-based parsing and local language models.</a:t>
            </a:r>
          </a:p>
          <a:p>
            <a:pPr algn="just"/>
            <a:endParaRPr lang="en-GB" sz="2000" b="1" dirty="0">
              <a:cs typeface="Times New Roman" pitchFamily="18" charset="0"/>
            </a:endParaRPr>
          </a:p>
          <a:p>
            <a:pPr algn="just"/>
            <a:r>
              <a:rPr lang="en-GB" sz="2000" b="1" dirty="0"/>
              <a:t>Why Documentation?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Prevents loss of critical knowledge by documenting architecture and complex logic.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Helps scale and maintain codebases without time-consuming reverse-engineering.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Reduces technical debt by providing clear context for future changes.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Enables faster onboarding by explaining the system’s purpose and functionality</a:t>
            </a:r>
            <a:endParaRPr lang="en-GB" sz="2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6785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4CA3C-0E95-FC6E-8810-FB7147CA1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967D72-BA68-2FEF-DCEA-9D01D1459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Problem Statement</a:t>
            </a:r>
            <a:endParaRPr lang="en-IN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3382DA-5BCA-1AFA-168A-FD82A16E50EE}"/>
              </a:ext>
            </a:extLst>
          </p:cNvPr>
          <p:cNvSpPr txBox="1"/>
          <p:nvPr/>
        </p:nvSpPr>
        <p:spPr>
          <a:xfrm>
            <a:off x="500120" y="1607820"/>
            <a:ext cx="8979160" cy="52501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</a:pPr>
            <a:r>
              <a:rPr lang="en-US" sz="2000" b="1" dirty="0"/>
              <a:t>1. The challenges that we currently face</a:t>
            </a:r>
          </a:p>
          <a:p>
            <a:pPr marL="228600" indent="-228600" algn="just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File converters do not preserve semantic structure and metadata </a:t>
            </a:r>
          </a:p>
          <a:p>
            <a:pPr marL="228600" indent="-228600" algn="just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Manual code documentation is slow and inconsistent </a:t>
            </a:r>
          </a:p>
          <a:p>
            <a:pPr marL="228600" indent="-228600" algn="just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Developers find it difficult to understand large codebases </a:t>
            </a:r>
          </a:p>
          <a:p>
            <a:pPr marL="228600" indent="-228600" algn="just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No single system for both conversion and documentation </a:t>
            </a:r>
          </a:p>
          <a:p>
            <a:pPr algn="just">
              <a:lnSpc>
                <a:spcPct val="90000"/>
              </a:lnSpc>
              <a:spcBef>
                <a:spcPts val="1000"/>
              </a:spcBef>
            </a:pPr>
            <a:endParaRPr lang="en-US" sz="2000" dirty="0"/>
          </a:p>
          <a:p>
            <a:pPr algn="just">
              <a:lnSpc>
                <a:spcPct val="90000"/>
              </a:lnSpc>
              <a:spcBef>
                <a:spcPts val="1000"/>
              </a:spcBef>
            </a:pPr>
            <a:r>
              <a:rPr lang="en-US" sz="2000" b="1" dirty="0"/>
              <a:t>2. The solutions we explore in this project</a:t>
            </a:r>
          </a:p>
          <a:p>
            <a:pPr marL="228600" indent="-228600" algn="just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Semantic-aware file conversion to preserve structure </a:t>
            </a:r>
          </a:p>
          <a:p>
            <a:pPr marL="228600" indent="-228600" algn="just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Automatic code documentation using AST analysis </a:t>
            </a:r>
          </a:p>
          <a:p>
            <a:pPr marL="228600" indent="-228600" algn="just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Local LLM based intelligent content processing </a:t>
            </a:r>
          </a:p>
          <a:p>
            <a:pPr marL="228600" indent="-228600" algn="just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Unified workflow for conversion and documentation </a:t>
            </a:r>
          </a:p>
          <a:p>
            <a:pPr algn="just">
              <a:lnSpc>
                <a:spcPct val="90000"/>
              </a:lnSpc>
              <a:spcBef>
                <a:spcPts val="1000"/>
              </a:spcBef>
            </a:pPr>
            <a:endParaRPr lang="en-US" dirty="0"/>
          </a:p>
        </p:txBody>
      </p:sp>
      <p:pic>
        <p:nvPicPr>
          <p:cNvPr id="3" name="Picture 2" descr="Stack of folders">
            <a:extLst>
              <a:ext uri="{FF2B5EF4-FFF2-40B4-BE49-F238E27FC236}">
                <a16:creationId xmlns:a16="http://schemas.microsoft.com/office/drawing/2014/main" id="{E676D34E-267C-8656-F1A8-E314D99E1DD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46" r="13790"/>
          <a:stretch>
            <a:fillRect/>
          </a:stretch>
        </p:blipFill>
        <p:spPr>
          <a:xfrm>
            <a:off x="8666480" y="1049867"/>
            <a:ext cx="3251200" cy="542832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99017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Objectives</a:t>
            </a:r>
          </a:p>
        </p:txBody>
      </p:sp>
      <p:sp>
        <p:nvSpPr>
          <p:cNvPr id="118" name="Parallelogram 30">
            <a:extLst>
              <a:ext uri="{FF2B5EF4-FFF2-40B4-BE49-F238E27FC236}">
                <a16:creationId xmlns:a16="http://schemas.microsoft.com/office/drawing/2014/main" id="{B42520F8-7309-4EC7-A3BA-B52127B270B6}"/>
              </a:ext>
            </a:extLst>
          </p:cNvPr>
          <p:cNvSpPr/>
          <p:nvPr/>
        </p:nvSpPr>
        <p:spPr>
          <a:xfrm flipH="1">
            <a:off x="7489325" y="3110504"/>
            <a:ext cx="351685" cy="352555"/>
          </a:xfrm>
          <a:custGeom>
            <a:avLst/>
            <a:gdLst/>
            <a:ahLst/>
            <a:cxnLst/>
            <a:rect l="l" t="t" r="r" b="b"/>
            <a:pathLst>
              <a:path w="3240000" h="3248012">
                <a:moveTo>
                  <a:pt x="712553" y="858820"/>
                </a:moveTo>
                <a:cubicBezTo>
                  <a:pt x="727950" y="858820"/>
                  <a:pt x="743348" y="864694"/>
                  <a:pt x="755096" y="876443"/>
                </a:cubicBezTo>
                <a:lnTo>
                  <a:pt x="1193671" y="1315016"/>
                </a:lnTo>
                <a:lnTo>
                  <a:pt x="1509169" y="999517"/>
                </a:lnTo>
                <a:cubicBezTo>
                  <a:pt x="1509517" y="999169"/>
                  <a:pt x="1509868" y="998827"/>
                  <a:pt x="1510414" y="998691"/>
                </a:cubicBezTo>
                <a:lnTo>
                  <a:pt x="1518932" y="988592"/>
                </a:lnTo>
                <a:cubicBezTo>
                  <a:pt x="1531945" y="978263"/>
                  <a:pt x="1547912" y="974188"/>
                  <a:pt x="1563209" y="975946"/>
                </a:cubicBezTo>
                <a:cubicBezTo>
                  <a:pt x="1578505" y="977705"/>
                  <a:pt x="1593131" y="985299"/>
                  <a:pt x="1603459" y="998313"/>
                </a:cubicBezTo>
                <a:lnTo>
                  <a:pt x="1892346" y="1362277"/>
                </a:lnTo>
                <a:lnTo>
                  <a:pt x="2149759" y="1177067"/>
                </a:lnTo>
                <a:lnTo>
                  <a:pt x="2151621" y="1174867"/>
                </a:lnTo>
                <a:cubicBezTo>
                  <a:pt x="2159033" y="1169006"/>
                  <a:pt x="2167397" y="1165168"/>
                  <a:pt x="2176160" y="1163802"/>
                </a:cubicBezTo>
                <a:cubicBezTo>
                  <a:pt x="2177188" y="1163485"/>
                  <a:pt x="2178237" y="1163269"/>
                  <a:pt x="2179375" y="1163558"/>
                </a:cubicBezTo>
                <a:cubicBezTo>
                  <a:pt x="2184768" y="1161771"/>
                  <a:pt x="2190389" y="1161654"/>
                  <a:pt x="2195921" y="1162300"/>
                </a:cubicBezTo>
                <a:cubicBezTo>
                  <a:pt x="2196662" y="1162386"/>
                  <a:pt x="2197402" y="1162487"/>
                  <a:pt x="2198081" y="1162987"/>
                </a:cubicBezTo>
                <a:cubicBezTo>
                  <a:pt x="2202197" y="1163290"/>
                  <a:pt x="2206218" y="1164270"/>
                  <a:pt x="2209739" y="1166702"/>
                </a:cubicBezTo>
                <a:cubicBezTo>
                  <a:pt x="2213116" y="1166857"/>
                  <a:pt x="2216051" y="1168231"/>
                  <a:pt x="2218766" y="1170038"/>
                </a:cubicBezTo>
                <a:cubicBezTo>
                  <a:pt x="2225342" y="1173160"/>
                  <a:pt x="2231151" y="1177875"/>
                  <a:pt x="2235489" y="1184194"/>
                </a:cubicBezTo>
                <a:lnTo>
                  <a:pt x="2236132" y="1184737"/>
                </a:lnTo>
                <a:lnTo>
                  <a:pt x="2236287" y="1184934"/>
                </a:lnTo>
                <a:lnTo>
                  <a:pt x="2238712" y="1187183"/>
                </a:lnTo>
                <a:cubicBezTo>
                  <a:pt x="2239115" y="1187744"/>
                  <a:pt x="2239507" y="1188310"/>
                  <a:pt x="2239574" y="1189090"/>
                </a:cubicBezTo>
                <a:lnTo>
                  <a:pt x="2540580" y="1569705"/>
                </a:lnTo>
                <a:cubicBezTo>
                  <a:pt x="2561191" y="1595768"/>
                  <a:pt x="2556772" y="1633604"/>
                  <a:pt x="2530710" y="1654215"/>
                </a:cubicBezTo>
                <a:cubicBezTo>
                  <a:pt x="2504647" y="1674827"/>
                  <a:pt x="2466811" y="1670408"/>
                  <a:pt x="2446199" y="1644345"/>
                </a:cubicBezTo>
                <a:lnTo>
                  <a:pt x="2177884" y="1305067"/>
                </a:lnTo>
                <a:lnTo>
                  <a:pt x="1934804" y="1479967"/>
                </a:lnTo>
                <a:cubicBezTo>
                  <a:pt x="1927367" y="1485317"/>
                  <a:pt x="1919123" y="1488726"/>
                  <a:pt x="1910598" y="1489881"/>
                </a:cubicBezTo>
                <a:cubicBezTo>
                  <a:pt x="1885257" y="1507791"/>
                  <a:pt x="1850121" y="1502627"/>
                  <a:pt x="1830495" y="1477903"/>
                </a:cubicBezTo>
                <a:lnTo>
                  <a:pt x="1551924" y="1126933"/>
                </a:lnTo>
                <a:lnTo>
                  <a:pt x="1239041" y="1439816"/>
                </a:lnTo>
                <a:cubicBezTo>
                  <a:pt x="1226569" y="1452288"/>
                  <a:pt x="1209983" y="1458139"/>
                  <a:pt x="1193674" y="1456888"/>
                </a:cubicBezTo>
                <a:cubicBezTo>
                  <a:pt x="1177363" y="1458142"/>
                  <a:pt x="1160774" y="1452290"/>
                  <a:pt x="1148301" y="1439816"/>
                </a:cubicBezTo>
                <a:lnTo>
                  <a:pt x="670011" y="961527"/>
                </a:lnTo>
                <a:cubicBezTo>
                  <a:pt x="646515" y="938031"/>
                  <a:pt x="646515" y="899938"/>
                  <a:pt x="670011" y="876442"/>
                </a:cubicBezTo>
                <a:cubicBezTo>
                  <a:pt x="681760" y="864694"/>
                  <a:pt x="697157" y="858820"/>
                  <a:pt x="712553" y="858820"/>
                </a:cubicBezTo>
                <a:close/>
                <a:moveTo>
                  <a:pt x="2790000" y="699581"/>
                </a:moveTo>
                <a:lnTo>
                  <a:pt x="450000" y="699581"/>
                </a:lnTo>
                <a:lnTo>
                  <a:pt x="450000" y="1851581"/>
                </a:lnTo>
                <a:lnTo>
                  <a:pt x="2790000" y="1851581"/>
                </a:lnTo>
                <a:close/>
                <a:moveTo>
                  <a:pt x="2987972" y="519497"/>
                </a:moveTo>
                <a:lnTo>
                  <a:pt x="2987972" y="2031665"/>
                </a:lnTo>
                <a:lnTo>
                  <a:pt x="252028" y="2031665"/>
                </a:lnTo>
                <a:lnTo>
                  <a:pt x="252028" y="519497"/>
                </a:lnTo>
                <a:close/>
                <a:moveTo>
                  <a:pt x="1620000" y="0"/>
                </a:moveTo>
                <a:cubicBezTo>
                  <a:pt x="1540462" y="0"/>
                  <a:pt x="1475984" y="64478"/>
                  <a:pt x="1475984" y="144016"/>
                </a:cubicBezTo>
                <a:lnTo>
                  <a:pt x="1475984" y="267469"/>
                </a:lnTo>
                <a:lnTo>
                  <a:pt x="0" y="267469"/>
                </a:lnTo>
                <a:lnTo>
                  <a:pt x="0" y="2283693"/>
                </a:lnTo>
                <a:lnTo>
                  <a:pt x="852101" y="2283693"/>
                </a:lnTo>
                <a:lnTo>
                  <a:pt x="323771" y="3248012"/>
                </a:lnTo>
                <a:lnTo>
                  <a:pt x="621526" y="3248012"/>
                </a:lnTo>
                <a:lnTo>
                  <a:pt x="1149856" y="2283693"/>
                </a:lnTo>
                <a:lnTo>
                  <a:pt x="2090146" y="2283693"/>
                </a:lnTo>
                <a:lnTo>
                  <a:pt x="2618476" y="3248012"/>
                </a:lnTo>
                <a:lnTo>
                  <a:pt x="2916231" y="3248012"/>
                </a:lnTo>
                <a:lnTo>
                  <a:pt x="2387901" y="2283693"/>
                </a:lnTo>
                <a:lnTo>
                  <a:pt x="3240000" y="2283693"/>
                </a:lnTo>
                <a:lnTo>
                  <a:pt x="3240000" y="267469"/>
                </a:lnTo>
                <a:lnTo>
                  <a:pt x="1764016" y="267469"/>
                </a:lnTo>
                <a:lnTo>
                  <a:pt x="1764016" y="144016"/>
                </a:lnTo>
                <a:cubicBezTo>
                  <a:pt x="1764016" y="64478"/>
                  <a:pt x="1699538" y="0"/>
                  <a:pt x="16200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latin typeface="+mj-lt"/>
            </a:endParaRPr>
          </a:p>
        </p:txBody>
      </p:sp>
      <p:sp>
        <p:nvSpPr>
          <p:cNvPr id="119" name="Rectangle 16">
            <a:extLst>
              <a:ext uri="{FF2B5EF4-FFF2-40B4-BE49-F238E27FC236}">
                <a16:creationId xmlns:a16="http://schemas.microsoft.com/office/drawing/2014/main" id="{31B88AF4-8B22-4BF9-81B4-A152E80FF8D8}"/>
              </a:ext>
            </a:extLst>
          </p:cNvPr>
          <p:cNvSpPr/>
          <p:nvPr/>
        </p:nvSpPr>
        <p:spPr>
          <a:xfrm rot="2700000">
            <a:off x="5267944" y="3963197"/>
            <a:ext cx="265920" cy="476745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latin typeface="+mj-lt"/>
            </a:endParaRPr>
          </a:p>
        </p:txBody>
      </p:sp>
      <p:sp>
        <p:nvSpPr>
          <p:cNvPr id="120" name="Oval 7">
            <a:extLst>
              <a:ext uri="{FF2B5EF4-FFF2-40B4-BE49-F238E27FC236}">
                <a16:creationId xmlns:a16="http://schemas.microsoft.com/office/drawing/2014/main" id="{5CE0F81E-E007-4921-A103-3E9F7209C010}"/>
              </a:ext>
            </a:extLst>
          </p:cNvPr>
          <p:cNvSpPr/>
          <p:nvPr/>
        </p:nvSpPr>
        <p:spPr>
          <a:xfrm>
            <a:off x="6638692" y="4046945"/>
            <a:ext cx="361277" cy="361277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415334" y="1947658"/>
                </a:moveTo>
                <a:lnTo>
                  <a:pt x="838053" y="2871852"/>
                </a:lnTo>
                <a:cubicBezTo>
                  <a:pt x="1312591" y="3168264"/>
                  <a:pt x="1913932" y="3170879"/>
                  <a:pt x="2391030" y="2878606"/>
                </a:cubicBezTo>
                <a:lnTo>
                  <a:pt x="1821709" y="1949263"/>
                </a:lnTo>
                <a:cubicBezTo>
                  <a:pt x="1763478" y="1986502"/>
                  <a:pt x="1694174" y="2007350"/>
                  <a:pt x="1620000" y="2007350"/>
                </a:cubicBezTo>
                <a:cubicBezTo>
                  <a:pt x="1544621" y="2007350"/>
                  <a:pt x="1474270" y="1985818"/>
                  <a:pt x="1415334" y="1947658"/>
                </a:cubicBezTo>
                <a:close/>
                <a:moveTo>
                  <a:pt x="1620001" y="1350973"/>
                </a:moveTo>
                <a:cubicBezTo>
                  <a:pt x="1471421" y="1350973"/>
                  <a:pt x="1350973" y="1471421"/>
                  <a:pt x="1350973" y="1620001"/>
                </a:cubicBezTo>
                <a:cubicBezTo>
                  <a:pt x="1350973" y="1768581"/>
                  <a:pt x="1471421" y="1889029"/>
                  <a:pt x="1620001" y="1889029"/>
                </a:cubicBezTo>
                <a:cubicBezTo>
                  <a:pt x="1768581" y="1889029"/>
                  <a:pt x="1889029" y="1768581"/>
                  <a:pt x="1889029" y="1620001"/>
                </a:cubicBezTo>
                <a:cubicBezTo>
                  <a:pt x="1889029" y="1471421"/>
                  <a:pt x="1768581" y="1350973"/>
                  <a:pt x="1620001" y="1350973"/>
                </a:cubicBezTo>
                <a:close/>
                <a:moveTo>
                  <a:pt x="2324470" y="322965"/>
                </a:moveTo>
                <a:lnTo>
                  <a:pt x="1804044" y="1281148"/>
                </a:lnTo>
                <a:cubicBezTo>
                  <a:pt x="1925507" y="1345192"/>
                  <a:pt x="2007350" y="1473038"/>
                  <a:pt x="2007350" y="1620000"/>
                </a:cubicBezTo>
                <a:lnTo>
                  <a:pt x="2005998" y="1633413"/>
                </a:lnTo>
                <a:lnTo>
                  <a:pt x="3095109" y="1671260"/>
                </a:lnTo>
                <a:cubicBezTo>
                  <a:pt x="3114541" y="1112092"/>
                  <a:pt x="2816135" y="590008"/>
                  <a:pt x="2324470" y="322965"/>
                </a:cubicBezTo>
                <a:close/>
                <a:moveTo>
                  <a:pt x="926838" y="316888"/>
                </a:moveTo>
                <a:cubicBezTo>
                  <a:pt x="432869" y="579644"/>
                  <a:pt x="129933" y="1099113"/>
                  <a:pt x="144500" y="1658429"/>
                </a:cubicBezTo>
                <a:lnTo>
                  <a:pt x="1233664" y="1630062"/>
                </a:lnTo>
                <a:cubicBezTo>
                  <a:pt x="1232693" y="1626734"/>
                  <a:pt x="1232650" y="1623372"/>
                  <a:pt x="1232650" y="1620000"/>
                </a:cubicBezTo>
                <a:cubicBezTo>
                  <a:pt x="1232650" y="1471836"/>
                  <a:pt x="1315838" y="1343102"/>
                  <a:pt x="1438904" y="1279548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latin typeface="+mj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99381" y="1712478"/>
            <a:ext cx="10639179" cy="3694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200000"/>
              </a:lnSpc>
              <a:buFont typeface="+mj-lt"/>
              <a:buAutoNum type="arabicPeriod"/>
            </a:pPr>
            <a:r>
              <a:rPr lang="en-GB" sz="2000" dirty="0"/>
              <a:t>To design and develop a semantic file conversion system that preserves document structure, metadata, and logical relationships during format transformation.</a:t>
            </a:r>
          </a:p>
          <a:p>
            <a:pPr marL="342900" indent="-342900" algn="just">
              <a:lnSpc>
                <a:spcPct val="200000"/>
              </a:lnSpc>
              <a:buFont typeface="+mj-lt"/>
              <a:buAutoNum type="arabicPeriod"/>
            </a:pPr>
            <a:r>
              <a:rPr lang="en-GB" sz="2000" dirty="0"/>
              <a:t>To implement and integrate an automatic code documentation module that generates context-aware comments using syntax and structure analysis.</a:t>
            </a:r>
          </a:p>
          <a:p>
            <a:pPr marL="342900" indent="-342900" algn="just">
              <a:lnSpc>
                <a:spcPct val="200000"/>
              </a:lnSpc>
              <a:buFont typeface="+mj-lt"/>
              <a:buAutoNum type="arabicPeriod"/>
            </a:pPr>
            <a:r>
              <a:rPr lang="en-GB" sz="2000" dirty="0"/>
              <a:t>To reduce manual effort and improve accuracy in document conversion and code documentation through automation.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265503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System Architecture Design</a:t>
            </a:r>
            <a:endParaRPr lang="en-IN" dirty="0"/>
          </a:p>
        </p:txBody>
      </p:sp>
      <p:sp>
        <p:nvSpPr>
          <p:cNvPr id="19" name="TextBox 18"/>
          <p:cNvSpPr txBox="1"/>
          <p:nvPr/>
        </p:nvSpPr>
        <p:spPr>
          <a:xfrm>
            <a:off x="503853" y="1623527"/>
            <a:ext cx="11150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 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6DF25E-0D5A-50FD-6D26-2C697BD64C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000"/>
          <a:stretch>
            <a:fillRect/>
          </a:stretch>
        </p:blipFill>
        <p:spPr>
          <a:xfrm>
            <a:off x="2240280" y="1421364"/>
            <a:ext cx="8149452" cy="4613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9002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788F9-6A97-5826-2468-BBBC599A1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8CEA3-BE43-0B52-C33C-8F8831C0B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System Workflow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9BF63E-F75C-51AA-826D-2A6EBF03B80D}"/>
              </a:ext>
            </a:extLst>
          </p:cNvPr>
          <p:cNvSpPr txBox="1"/>
          <p:nvPr/>
        </p:nvSpPr>
        <p:spPr>
          <a:xfrm>
            <a:off x="503853" y="1623527"/>
            <a:ext cx="11150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 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2AC671-9C7B-8557-DD67-317430EFEC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70" b="9386"/>
          <a:stretch>
            <a:fillRect/>
          </a:stretch>
        </p:blipFill>
        <p:spPr>
          <a:xfrm>
            <a:off x="2905245" y="1422916"/>
            <a:ext cx="6961223" cy="4755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9485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Technology Stack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2383311"/>
              </p:ext>
            </p:extLst>
          </p:nvPr>
        </p:nvGraphicFramePr>
        <p:xfrm>
          <a:off x="2101627" y="1587694"/>
          <a:ext cx="8268058" cy="418080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1340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340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4650">
                <a:tc gridSpan="2">
                  <a:txBody>
                    <a:bodyPr/>
                    <a:lstStyle/>
                    <a:p>
                      <a:pPr algn="ctr"/>
                      <a:r>
                        <a:rPr lang="en-IN" dirty="0"/>
                        <a:t>Technology stack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4650">
                <a:tc>
                  <a:txBody>
                    <a:bodyPr/>
                    <a:lstStyle/>
                    <a:p>
                      <a:pPr algn="l"/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Backend Framework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FastAPI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37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AI &amp; Automation</a:t>
                      </a: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Large Language Models (LLM)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lang="en-GB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Ollama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46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System Automation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PyAutoGUI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Keyboard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&amp; </a:t>
                      </a:r>
                      <a:r>
                        <a:rPr lang="en-US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PyperClip</a:t>
                      </a: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3779">
                <a:tc>
                  <a:txBody>
                    <a:bodyPr/>
                    <a:lstStyle/>
                    <a:p>
                      <a:pPr algn="l"/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PDF Generation</a:t>
                      </a: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ReportLab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algn="l"/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4650">
                <a:tc>
                  <a:txBody>
                    <a:bodyPr/>
                    <a:lstStyle/>
                    <a:p>
                      <a:pPr algn="l"/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Word Processing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python-docx</a:t>
                      </a: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46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Markdown Parsing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markdown-it-</a:t>
                      </a:r>
                      <a:r>
                        <a:rPr lang="en-US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py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&amp; </a:t>
                      </a: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Pygment</a:t>
                      </a: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44308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Demo and modes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301DCF1-EAA1-8DFB-4A86-B3AD221AAF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786" y="2020416"/>
            <a:ext cx="5211214" cy="38423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14E088A-9268-6C8B-DC1A-29EFB355ED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1185" y="2020417"/>
            <a:ext cx="5211213" cy="38423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2831349-3688-7C6B-7575-C432F4F783EA}"/>
              </a:ext>
            </a:extLst>
          </p:cNvPr>
          <p:cNvSpPr txBox="1"/>
          <p:nvPr/>
        </p:nvSpPr>
        <p:spPr>
          <a:xfrm>
            <a:off x="768408" y="1506848"/>
            <a:ext cx="60932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Upload &amp; Live Editor page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2B5650-9286-311F-BA57-0A218F28CBB3}"/>
              </a:ext>
            </a:extLst>
          </p:cNvPr>
          <p:cNvSpPr txBox="1"/>
          <p:nvPr/>
        </p:nvSpPr>
        <p:spPr>
          <a:xfrm>
            <a:off x="2265220" y="6006952"/>
            <a:ext cx="2606039" cy="367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Upload &amp; Analyze Page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 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04CD36-B7F0-50CC-41C8-F4E1540A959D}"/>
              </a:ext>
            </a:extLst>
          </p:cNvPr>
          <p:cNvSpPr txBox="1"/>
          <p:nvPr/>
        </p:nvSpPr>
        <p:spPr>
          <a:xfrm>
            <a:off x="8072782" y="6006952"/>
            <a:ext cx="2040774" cy="367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Live Editor Page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13363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BDE53-50B9-E963-8052-4063C6972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69C783B-2247-B15B-535E-CEE24E318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Demo and modes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F7BF8F-B064-EF51-EC2E-176DDA612957}"/>
              </a:ext>
            </a:extLst>
          </p:cNvPr>
          <p:cNvSpPr txBox="1"/>
          <p:nvPr/>
        </p:nvSpPr>
        <p:spPr>
          <a:xfrm>
            <a:off x="2853624" y="5922040"/>
            <a:ext cx="68948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Generated PDF output file</a:t>
            </a:r>
            <a:r>
              <a:rPr lang="en-US" dirty="0"/>
              <a:t> from the original source .</a:t>
            </a:r>
            <a:r>
              <a:rPr lang="en-US" dirty="0" err="1"/>
              <a:t>ipynb</a:t>
            </a:r>
            <a:r>
              <a:rPr lang="en-US" dirty="0"/>
              <a:t> file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7C5248-3BEB-19C4-34AA-101E9C9136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785" y="1566289"/>
            <a:ext cx="10008524" cy="40239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22280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Future Enhancements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EB5FC4-C6C9-8015-D155-CA422BFAA6FD}"/>
              </a:ext>
            </a:extLst>
          </p:cNvPr>
          <p:cNvSpPr txBox="1"/>
          <p:nvPr/>
        </p:nvSpPr>
        <p:spPr>
          <a:xfrm>
            <a:off x="914194" y="1744308"/>
            <a:ext cx="10363612" cy="3369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Implement direct CI/CD integration with GitHub Actions to automatically update documentation on every push.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Expand language support to include Go, Rust, and C++ for a more versatile multi-language documenter.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Integrate direct GitHub repository connection to automatically fetch and document entire source trees.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Enhance the visualization engine to automatically generate interactive Mermaid.js architectural diagrams from code.</a:t>
            </a:r>
          </a:p>
        </p:txBody>
      </p:sp>
    </p:spTree>
    <p:extLst>
      <p:ext uri="{BB962C8B-B14F-4D97-AF65-F5344CB8AC3E}">
        <p14:creationId xmlns:p14="http://schemas.microsoft.com/office/powerpoint/2010/main" val="414266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958FFE-1AFC-2F75-B107-0839ED99F467}"/>
              </a:ext>
            </a:extLst>
          </p:cNvPr>
          <p:cNvSpPr txBox="1"/>
          <p:nvPr/>
        </p:nvSpPr>
        <p:spPr>
          <a:xfrm>
            <a:off x="914194" y="1744308"/>
            <a:ext cx="10490868" cy="2121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GB" dirty="0"/>
              <a:t>AI-driven documentation bridges the gap between complex code and technical clarity. Our platform simplifies developer workflows by automating manual tasks with a premium, high-tech interface. Future enhancements like direct GitHub integration and Mermaid diagrams will further scale this innovation. We remain dedicated to ensuring technical knowledge is accurate, accessible, and effortlessly maintained.</a:t>
            </a:r>
          </a:p>
        </p:txBody>
      </p:sp>
    </p:spTree>
    <p:extLst>
      <p:ext uri="{BB962C8B-B14F-4D97-AF65-F5344CB8AC3E}">
        <p14:creationId xmlns:p14="http://schemas.microsoft.com/office/powerpoint/2010/main" val="28381189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6993" y="1776401"/>
            <a:ext cx="3711482" cy="363379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104163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Custom 5">
      <a:majorFont>
        <a:latin typeface="Roboto Slab"/>
        <a:ea typeface=""/>
        <a:cs typeface=""/>
      </a:majorFont>
      <a:minorFont>
        <a:latin typeface="Roboto Slab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2875</TotalTime>
  <Words>466</Words>
  <Application>Microsoft Office PowerPoint</Application>
  <PresentationFormat>Widescreen</PresentationFormat>
  <Paragraphs>79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Roboto Slab</vt:lpstr>
      <vt:lpstr>Arial</vt:lpstr>
      <vt:lpstr>Times New Roman</vt:lpstr>
      <vt:lpstr>Calibri</vt:lpstr>
      <vt:lpstr>Office Theme</vt:lpstr>
      <vt:lpstr>Topic: Semantic Aware File Converter with Automatic Documentation Generation using Local LLM </vt:lpstr>
      <vt:lpstr>Agenda</vt:lpstr>
      <vt:lpstr>Introduction</vt:lpstr>
      <vt:lpstr>Problem Statement</vt:lpstr>
      <vt:lpstr>Objectives</vt:lpstr>
      <vt:lpstr>System Architecture Design</vt:lpstr>
      <vt:lpstr>System Workflow</vt:lpstr>
      <vt:lpstr>Technology Stack</vt:lpstr>
      <vt:lpstr>Demo and modes</vt:lpstr>
      <vt:lpstr>Demo and modes</vt:lpstr>
      <vt:lpstr>Future Enhancements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Shashwath Kukkunoor</cp:lastModifiedBy>
  <cp:revision>256</cp:revision>
  <dcterms:created xsi:type="dcterms:W3CDTF">2020-01-23T06:03:51Z</dcterms:created>
  <dcterms:modified xsi:type="dcterms:W3CDTF">2026-03-23T05:26:40Z</dcterms:modified>
</cp:coreProperties>
</file>